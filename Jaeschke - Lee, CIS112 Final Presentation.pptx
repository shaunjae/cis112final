
<file path=[Content_Types].xml><?xml version="1.0" encoding="utf-8"?>
<Types xmlns="http://schemas.openxmlformats.org/package/2006/content-types"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0"/>
  </p:notesMasterIdLst>
  <p:sldIdLst>
    <p:sldId id="256" r:id="rId2"/>
    <p:sldId id="257" r:id="rId3"/>
    <p:sldId id="260" r:id="rId4"/>
    <p:sldId id="258" r:id="rId5"/>
    <p:sldId id="262" r:id="rId6"/>
    <p:sldId id="259" r:id="rId7"/>
    <p:sldId id="261" r:id="rId8"/>
    <p:sldId id="263" r:id="rId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660"/>
  </p:normalViewPr>
  <p:slideViewPr>
    <p:cSldViewPr snapToGrid="0">
      <p:cViewPr>
        <p:scale>
          <a:sx n="100" d="100"/>
          <a:sy n="100" d="100"/>
        </p:scale>
        <p:origin x="264" y="21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F168A8B-5A68-477D-8CAF-8D6F84EF510A}" type="datetimeFigureOut">
              <a:rPr lang="en-US" smtClean="0"/>
              <a:t>8/10/2026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FCC0B45-05A4-487E-9942-37DBE4C1976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9639012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Shaun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FCC0B45-05A4-487E-9942-37DBE4C1976F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4325895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Shaun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FCC0B45-05A4-487E-9942-37DBE4C1976F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7257033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Julian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FCC0B45-05A4-487E-9942-37DBE4C1976F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8155650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</a:t>
            </a:r>
            <a:r>
              <a:rPr lang="en-US" baseline="30000" dirty="0"/>
              <a:t>st</a:t>
            </a:r>
            <a:r>
              <a:rPr lang="en-US" dirty="0"/>
              <a:t> part Shaun</a:t>
            </a:r>
          </a:p>
          <a:p>
            <a:r>
              <a:rPr lang="en-US" dirty="0"/>
              <a:t>2</a:t>
            </a:r>
            <a:r>
              <a:rPr lang="en-US" baseline="30000" dirty="0"/>
              <a:t>nd</a:t>
            </a:r>
            <a:r>
              <a:rPr lang="en-US" dirty="0"/>
              <a:t> part Julian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FCC0B45-05A4-487E-9942-37DBE4C1976F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37478034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 &amp; 2 Shaun</a:t>
            </a:r>
          </a:p>
          <a:p>
            <a:r>
              <a:rPr lang="en-US" dirty="0"/>
              <a:t>3 Julian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FCC0B45-05A4-487E-9942-37DBE4C1976F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1086188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Shaun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FCC0B45-05A4-487E-9942-37DBE4C1976F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5839959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Shaun for demonstration</a:t>
            </a:r>
          </a:p>
          <a:p>
            <a:r>
              <a:rPr lang="en-US" dirty="0"/>
              <a:t>Julian for total weight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FCC0B45-05A4-487E-9942-37DBE4C1976F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88159652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Shaun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FCC0B45-05A4-487E-9942-37DBE4C1976F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5437013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FC62B7-CEFA-3A32-5989-380ADA1847A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3BC55F2-5FC6-A2D4-2BDA-5D8E09C647B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D5734BF-4202-107B-D179-BC4A4F0C864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323D63-19B7-43D7-AD90-3C5D81862513}" type="datetimeFigureOut">
              <a:rPr lang="en-US" smtClean="0"/>
              <a:t>8/10/2026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DD22ED1-BB83-8502-524E-22562CB594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86E15FA-B5B0-D013-5229-56BFCCF836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E94CD2-8471-409D-9091-AA18A823A6D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7579935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DCEF9D-66E6-11E9-4E51-B33DC10FE7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8A2D3FC-6178-3242-163F-B9DB6240612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2A698CF-D263-3287-DED1-9981B84B8E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323D63-19B7-43D7-AD90-3C5D81862513}" type="datetimeFigureOut">
              <a:rPr lang="en-US" smtClean="0"/>
              <a:t>8/10/2026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F550AFF-45FF-93DE-A2FE-124362CD337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3452588-564F-8E92-1305-C63DC4CECD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E94CD2-8471-409D-9091-AA18A823A6D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1783177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50BC517-98FE-B0CB-A984-DF8EB1AADD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D580306-21C6-1657-8563-11CFF370E61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E3865FB-C23D-06D8-4C78-F99CE16DB8E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323D63-19B7-43D7-AD90-3C5D81862513}" type="datetimeFigureOut">
              <a:rPr lang="en-US" smtClean="0"/>
              <a:t>8/10/2026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405A293-0B4F-A069-37D6-25F607D12BC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1F7E750-739B-4BD3-B503-90FD7986CC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E94CD2-8471-409D-9091-AA18A823A6D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9189401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9C04BC-4DEC-AC60-AAAE-91AFEB3B24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1F339E5-632F-C146-9EE3-5990B011275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BAB52D7-4B37-A3E7-8FBE-1CE70DBAD66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1643C38-79FA-64C9-7F54-010F87CB15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323D63-19B7-43D7-AD90-3C5D81862513}" type="datetimeFigureOut">
              <a:rPr lang="en-US" smtClean="0"/>
              <a:t>8/10/2026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5764E37-16DA-4AF6-4361-115F247F56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9B5D646-D5EC-2D14-E027-25E0CB5FC0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E94CD2-8471-409D-9091-AA18A823A6D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714936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4BC596-C87C-92A6-270F-F15CC30CB8A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2290F56-A1BC-C6CD-53D3-6E1AC90A262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8F6AE07-10D6-1AE6-DD57-3CB47E7D3FE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4372F86-D171-693D-E2DD-9770F27C60C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596253D-6ADB-64E2-76E5-0DD2C897CE0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B9CB3B82-7B5F-980D-7E1B-4CABFB149E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323D63-19B7-43D7-AD90-3C5D81862513}" type="datetimeFigureOut">
              <a:rPr lang="en-US" smtClean="0"/>
              <a:t>8/10/2026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3562128-F3E4-A7A5-F955-6D4A5C9E25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8EAFBD3-52A1-B116-D265-67F536CA84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E94CD2-8471-409D-9091-AA18A823A6D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508113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660376-C2A8-B7D4-CB1C-5762E24B5A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630B2DB-60D2-C6AD-789E-5F16986870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323D63-19B7-43D7-AD90-3C5D81862513}" type="datetimeFigureOut">
              <a:rPr lang="en-US" smtClean="0"/>
              <a:t>8/10/2026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48670E9-5C7B-D423-8351-B8450B1A7F3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764D24E-03CE-4BE0-CE98-E6B044CA3A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E94CD2-8471-409D-9091-AA18A823A6D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5338010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7669AC16-FD74-AE4D-725A-E89186A441B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323D63-19B7-43D7-AD90-3C5D81862513}" type="datetimeFigureOut">
              <a:rPr lang="en-US" smtClean="0"/>
              <a:t>8/10/2026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E938319-54DD-3DB6-62D0-D85993D2C7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6810493-33A6-1324-7E91-65EFE52410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E94CD2-8471-409D-9091-AA18A823A6D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17524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36982D-2DB3-FB63-1595-2F933FDF4F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4678A87-60E7-EC2C-D197-41C04A6FB22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3090A90-6E59-E5B3-3447-334DA599C5B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917D3D3-D369-BEC4-0238-F560A0D05B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323D63-19B7-43D7-AD90-3C5D81862513}" type="datetimeFigureOut">
              <a:rPr lang="en-US" smtClean="0"/>
              <a:t>8/10/2026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F3F2E7B-9A06-A04E-20C0-32FDFBA7A9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0159435-C6E7-2082-B3D9-8DA327C7C4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E94CD2-8471-409D-9091-AA18A823A6D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2034809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0B71A2-B204-C4FD-55F2-DA383395CD8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195FDA2-B426-9128-0BC6-6FD44AA2058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B5C3C0B-2972-9DBD-65A9-30EE22EEAF1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65C2C57-03B0-1040-78AB-679A0993C42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323D63-19B7-43D7-AD90-3C5D81862513}" type="datetimeFigureOut">
              <a:rPr lang="en-US" smtClean="0"/>
              <a:t>8/10/2026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28D4655-E78F-D4A6-466C-900B9E1213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57AC656-46AC-42D7-EEA3-36D4697900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E94CD2-8471-409D-9091-AA18A823A6D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5330826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585D47-CF01-BA8D-C34F-AFB1A4558B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2B48ABD-10DC-FEDF-FB6F-194B4C86F52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DA2E307-A6CC-F6B5-C1FE-E92CE86C164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323D63-19B7-43D7-AD90-3C5D81862513}" type="datetimeFigureOut">
              <a:rPr lang="en-US" smtClean="0"/>
              <a:t>8/10/2026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5E12E76-BDF7-C0F6-A863-59E7C2018FC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9F5F1AD-A8D5-8025-2B43-0567F6E385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E94CD2-8471-409D-9091-AA18A823A6D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2100415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C86A6D3-27D8-DBE9-C759-DE1250AE16C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369D6A5-F166-B5DB-FA08-3184D0688AE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A97A089-9CB7-1C37-9415-FEA74EA663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323D63-19B7-43D7-AD90-3C5D81862513}" type="datetimeFigureOut">
              <a:rPr lang="en-US" smtClean="0"/>
              <a:t>8/10/2026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09FEB91-9C87-5F6C-61BC-1421F932F0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C83F8BF-F9BD-A722-6BA6-94D3FC0D7B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E94CD2-8471-409D-9091-AA18A823A6D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3422642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75458C63-3189-7FDD-D40D-54B37080A3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06F57F1-0DAF-B6CE-6A6C-6DE70193371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AA4F6A8-2696-BD93-9642-77F0BFFDA40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8323D63-19B7-43D7-AD90-3C5D81862513}" type="datetimeFigureOut">
              <a:rPr lang="en-US" smtClean="0"/>
              <a:t>8/10/2026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AD69CE5-D9B5-E871-FEA3-FF285033CD4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3D08575-A3B1-39B1-E681-3D724E2BB05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5E94CD2-8471-409D-9091-AA18A823A6D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4789881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microsoft.com/office/2007/relationships/hdphoto" Target="../media/hdphoto1.wdp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glassdoor.com/Interview/Implement-kruskal-s-algorithm-in-about-30-minutes-QTN_1966985.htm" TargetMode="Externa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hyperlink" Target="https://en.wikipedia.org/wiki/Minimum_spanning_tree#Algorithms" TargetMode="Externa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.gif"/><Relationship Id="rId4" Type="http://schemas.openxmlformats.org/officeDocument/2006/relationships/hyperlink" Target="https://en.wikipedia.org/wiki/Kruskal's_algorithm" TargetMode="Externa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hyperlink" Target="https://en.wikipedia.org/wiki/Disjoint-set_data_structure" TargetMode="External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haunJae/CIS112Final" TargetMode="External"/><Relationship Id="rId7" Type="http://schemas.openxmlformats.org/officeDocument/2006/relationships/hyperlink" Target="https://en.wikipedia.org/wiki/Disjoint-set_data_structure" TargetMode="External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en.wikipedia.org/wiki/Kruskal's_algorithm" TargetMode="External"/><Relationship Id="rId5" Type="http://schemas.openxmlformats.org/officeDocument/2006/relationships/hyperlink" Target="https://en.wikipedia.org/wiki/Minimum_spanning_tree#Algorithms" TargetMode="External"/><Relationship Id="rId4" Type="http://schemas.openxmlformats.org/officeDocument/2006/relationships/hyperlink" Target="https://www.glassdoor.com/Interview/Implement-kruskal-s-algorithm-in-about-30-minutes-QTN_1966985.htm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>
            <a:extLst>
              <a:ext uri="{FF2B5EF4-FFF2-40B4-BE49-F238E27FC236}">
                <a16:creationId xmlns:a16="http://schemas.microsoft.com/office/drawing/2014/main" id="{AE376A3A-0228-8E1B-78BE-AFACC392E2A4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3">
            <a:alphaModFix amt="20000"/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sharpenSoften amount="38000"/>
                    </a14:imgEffect>
                    <a14:imgEffect>
                      <a14:saturation sat="32000"/>
                    </a14:imgEffect>
                    <a14:imgEffect>
                      <a14:brightnessContrast bright="32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 rot="1033020">
            <a:off x="-842678" y="-1194586"/>
            <a:ext cx="14562439" cy="10683658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34AEEBD5-A983-C0E1-6410-570E56C860DC}"/>
              </a:ext>
            </a:extLst>
          </p:cNvPr>
          <p:cNvSpPr txBox="1"/>
          <p:nvPr/>
        </p:nvSpPr>
        <p:spPr>
          <a:xfrm>
            <a:off x="2240237" y="5497002"/>
            <a:ext cx="771236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Shaun Jaeschke &amp; Julian Lee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9945B53-EAA5-32F5-83A1-3752FB3FB4C0}"/>
              </a:ext>
            </a:extLst>
          </p:cNvPr>
          <p:cNvSpPr txBox="1"/>
          <p:nvPr/>
        </p:nvSpPr>
        <p:spPr>
          <a:xfrm>
            <a:off x="2239818" y="1360998"/>
            <a:ext cx="7712364" cy="169277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400" b="1" dirty="0">
                <a:latin typeface="Courier New" panose="02070309020205020404" pitchFamily="49" charset="0"/>
                <a:cs typeface="Courier New" panose="02070309020205020404" pitchFamily="49" charset="0"/>
              </a:rPr>
              <a:t>Minimum Spanning Trees</a:t>
            </a:r>
          </a:p>
          <a:p>
            <a:pPr algn="ctr"/>
            <a:r>
              <a:rPr 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along a weighted graph using</a:t>
            </a:r>
          </a:p>
          <a:p>
            <a:pPr algn="ctr"/>
            <a:r>
              <a:rPr lang="en-US" sz="4000" b="1" dirty="0">
                <a:latin typeface="Courier New" panose="02070309020205020404" pitchFamily="49" charset="0"/>
                <a:cs typeface="Courier New" panose="02070309020205020404" pitchFamily="49" charset="0"/>
              </a:rPr>
              <a:t>Kruskal’s Algorithm</a:t>
            </a:r>
          </a:p>
        </p:txBody>
      </p:sp>
    </p:spTree>
    <p:extLst>
      <p:ext uri="{BB962C8B-B14F-4D97-AF65-F5344CB8AC3E}">
        <p14:creationId xmlns:p14="http://schemas.microsoft.com/office/powerpoint/2010/main" val="383897972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7B1309C-4613-A935-7E8E-086B73FBF8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What is an MST? </a:t>
            </a:r>
            <a:r>
              <a:rPr lang="en-US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(Minimum Spanning Tree)</a:t>
            </a:r>
            <a:endParaRPr lang="en-US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pic>
        <p:nvPicPr>
          <p:cNvPr id="9" name="Content Placeholder 8">
            <a:extLst>
              <a:ext uri="{FF2B5EF4-FFF2-40B4-BE49-F238E27FC236}">
                <a16:creationId xmlns:a16="http://schemas.microsoft.com/office/drawing/2014/main" id="{F86485D0-1162-003C-9E57-1FEEA8878CA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13152" y="1712912"/>
            <a:ext cx="5931123" cy="4351338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E209CCC1-C044-2BE6-EFAC-53C8244237A4}"/>
              </a:ext>
            </a:extLst>
          </p:cNvPr>
          <p:cNvSpPr txBox="1"/>
          <p:nvPr/>
        </p:nvSpPr>
        <p:spPr>
          <a:xfrm>
            <a:off x="838200" y="2295525"/>
            <a:ext cx="4448175" cy="31393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- An MST is the tree connecting all nodes in a graph with the minimal total edge length.</a:t>
            </a:r>
            <a:b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endParaRPr lang="en-US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- By definition of being a tree, it contains no loops. </a:t>
            </a:r>
            <a:b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endParaRPr lang="en-US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- These trees are often useful for network optimization tasks, logistics chains, utilities planning, and infrastructure. </a:t>
            </a: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EFAE1F93-40A2-12AB-8CA2-057592624CDA}"/>
              </a:ext>
            </a:extLst>
          </p:cNvPr>
          <p:cNvCxnSpPr/>
          <p:nvPr/>
        </p:nvCxnSpPr>
        <p:spPr>
          <a:xfrm>
            <a:off x="838200" y="1320798"/>
            <a:ext cx="10515600" cy="0"/>
          </a:xfrm>
          <a:prstGeom prst="line">
            <a:avLst/>
          </a:prstGeom>
          <a:ln w="444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0414329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E68C61-F01B-4A0D-4B9D-93562CF742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Who might care about MSTs?</a:t>
            </a: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CAAABB11-277B-7495-A212-AD3F4DCB0E33}"/>
              </a:ext>
            </a:extLst>
          </p:cNvPr>
          <p:cNvCxnSpPr/>
          <p:nvPr/>
        </p:nvCxnSpPr>
        <p:spPr>
          <a:xfrm>
            <a:off x="838200" y="1320798"/>
            <a:ext cx="10515600" cy="0"/>
          </a:xfrm>
          <a:prstGeom prst="line">
            <a:avLst/>
          </a:prstGeom>
          <a:ln w="444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50136F03-EAB8-5F60-844D-9E9873F6AF47}"/>
              </a:ext>
            </a:extLst>
          </p:cNvPr>
          <p:cNvSpPr txBox="1"/>
          <p:nvPr/>
        </p:nvSpPr>
        <p:spPr>
          <a:xfrm>
            <a:off x="995217" y="1711028"/>
            <a:ext cx="7206673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As mentioned earlier any companies dealing with networks and logistics will use some amount of MST logic for optimization in their systems.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5E3A71F-0B0A-FF5E-F5C5-5D215AE47285}"/>
              </a:ext>
            </a:extLst>
          </p:cNvPr>
          <p:cNvSpPr txBox="1"/>
          <p:nvPr/>
        </p:nvSpPr>
        <p:spPr>
          <a:xfrm>
            <a:off x="2274455" y="3302058"/>
            <a:ext cx="9282545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Examples include telecommunication companies such as phone carriers and internet service providers, electrical &amp; utility grid services, and logistics &amp; transportation such as Amazon or USPS.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18EDD95-8FBA-C83D-2408-5DA7F89093A9}"/>
              </a:ext>
            </a:extLst>
          </p:cNvPr>
          <p:cNvSpPr txBox="1"/>
          <p:nvPr/>
        </p:nvSpPr>
        <p:spPr>
          <a:xfrm>
            <a:off x="995217" y="4990865"/>
            <a:ext cx="7206673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Implementation of Kruskal’s algorithm within 30 minutes has been reported as an interview question at Amazon.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A5DCC25-A98F-50D3-082C-ECDA6AFF34E6}"/>
              </a:ext>
            </a:extLst>
          </p:cNvPr>
          <p:cNvSpPr txBox="1"/>
          <p:nvPr/>
        </p:nvSpPr>
        <p:spPr>
          <a:xfrm>
            <a:off x="0" y="6581895"/>
            <a:ext cx="7638472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>
                <a:hlinkClick r:id="rId3"/>
              </a:rPr>
              <a:t>https://www.glassdoor.com/Interview/Implement-kruskal-s-algorithm-in-about-30-minutes-QTN_1966985.htm</a:t>
            </a:r>
            <a:endParaRPr lang="en-US" sz="1100" dirty="0"/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76193FDE-217C-3C72-0024-1A3383840BC3}"/>
              </a:ext>
            </a:extLst>
          </p:cNvPr>
          <p:cNvCxnSpPr/>
          <p:nvPr/>
        </p:nvCxnSpPr>
        <p:spPr>
          <a:xfrm>
            <a:off x="1819564" y="3158836"/>
            <a:ext cx="3371272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3AC7FACE-367F-3298-2C1B-680435844A3A}"/>
              </a:ext>
            </a:extLst>
          </p:cNvPr>
          <p:cNvCxnSpPr/>
          <p:nvPr/>
        </p:nvCxnSpPr>
        <p:spPr>
          <a:xfrm>
            <a:off x="1819564" y="4789053"/>
            <a:ext cx="3371272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9103307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3B6849-4A82-AC53-B92B-16878A910E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r"/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Methods for finding an MST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59C83AF-0D78-C534-B93A-DE37F310894E}"/>
              </a:ext>
            </a:extLst>
          </p:cNvPr>
          <p:cNvSpPr txBox="1"/>
          <p:nvPr/>
        </p:nvSpPr>
        <p:spPr>
          <a:xfrm>
            <a:off x="838200" y="1856941"/>
            <a:ext cx="4448175" cy="36933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Various algorithms for finding an MST exist. Most of classics are what are considered </a:t>
            </a:r>
            <a:r>
              <a:rPr lang="en-US" b="1" u="sng" dirty="0">
                <a:latin typeface="Courier New" panose="02070309020205020404" pitchFamily="49" charset="0"/>
                <a:cs typeface="Courier New" panose="02070309020205020404" pitchFamily="49" charset="0"/>
              </a:rPr>
              <a:t>greedy algorithms</a:t>
            </a: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; ones that make logically optimal choices at each step and do not reconsider past choices.</a:t>
            </a:r>
          </a:p>
          <a:p>
            <a:endParaRPr lang="en-US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One of the classic algorithms is </a:t>
            </a:r>
            <a:r>
              <a:rPr lang="en-US" b="1" u="sng" dirty="0">
                <a:latin typeface="Courier New" panose="02070309020205020404" pitchFamily="49" charset="0"/>
                <a:cs typeface="Courier New" panose="02070309020205020404" pitchFamily="49" charset="0"/>
              </a:rPr>
              <a:t>Kruskal’s Algorithm</a:t>
            </a: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. Its key features include sorting, and utilization of a </a:t>
            </a:r>
            <a:r>
              <a:rPr lang="en-US" b="1" u="sng" dirty="0">
                <a:latin typeface="Courier New" panose="02070309020205020404" pitchFamily="49" charset="0"/>
                <a:cs typeface="Courier New" panose="02070309020205020404" pitchFamily="49" charset="0"/>
              </a:rPr>
              <a:t>disjoint-set</a:t>
            </a: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 data structure.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D9FEA87-2902-25BD-BB20-E0D113A0DB2F}"/>
              </a:ext>
            </a:extLst>
          </p:cNvPr>
          <p:cNvSpPr txBox="1"/>
          <p:nvPr/>
        </p:nvSpPr>
        <p:spPr>
          <a:xfrm>
            <a:off x="0" y="6427113"/>
            <a:ext cx="6409854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>
                <a:hlinkClick r:id="rId3"/>
              </a:rPr>
              <a:t>https://en.wikipedia.org/wiki/Minimum_spanning_tree#Algorithms</a:t>
            </a:r>
            <a:endParaRPr lang="en-US" sz="1100" dirty="0"/>
          </a:p>
          <a:p>
            <a:r>
              <a:rPr lang="en-US" sz="1100" dirty="0">
                <a:hlinkClick r:id="rId4"/>
              </a:rPr>
              <a:t>https://en.wikipedia.org/wiki/Kruskal's_algorithm</a:t>
            </a:r>
            <a:endParaRPr lang="en-US" sz="1100" dirty="0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56D2F9CC-BBC6-0B00-8B1F-70001B2BB95C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51781" y="1709161"/>
            <a:ext cx="3715328" cy="3821818"/>
          </a:xfrm>
          <a:prstGeom prst="rect">
            <a:avLst/>
          </a:prstGeom>
          <a:ln w="25400">
            <a:solidFill>
              <a:schemeClr val="tx1"/>
            </a:solidFill>
          </a:ln>
        </p:spPr>
      </p:pic>
      <p:sp>
        <p:nvSpPr>
          <p:cNvPr id="12" name="Rectangle 11">
            <a:extLst>
              <a:ext uri="{FF2B5EF4-FFF2-40B4-BE49-F238E27FC236}">
                <a16:creationId xmlns:a16="http://schemas.microsoft.com/office/drawing/2014/main" id="{5B7A84ED-547B-B486-BC6C-3FAF6B6D0592}"/>
              </a:ext>
            </a:extLst>
          </p:cNvPr>
          <p:cNvSpPr/>
          <p:nvPr/>
        </p:nvSpPr>
        <p:spPr>
          <a:xfrm>
            <a:off x="6858000" y="5549452"/>
            <a:ext cx="3511550" cy="575124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Animation of Kruskal's algorithm on a complete graph with weights based on Euclidean distance</a:t>
            </a:r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D3D61403-D35A-6F73-717C-3FFEB7CBF941}"/>
              </a:ext>
            </a:extLst>
          </p:cNvPr>
          <p:cNvCxnSpPr/>
          <p:nvPr/>
        </p:nvCxnSpPr>
        <p:spPr>
          <a:xfrm>
            <a:off x="838200" y="1320798"/>
            <a:ext cx="10515600" cy="0"/>
          </a:xfrm>
          <a:prstGeom prst="line">
            <a:avLst/>
          </a:prstGeom>
          <a:ln w="444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2258129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AD4DFC0-9CD0-5F3D-13F1-B7BDDCA0BC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Union-Find ADT</a:t>
            </a: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B91EC3CC-DC6F-FF5E-3943-C97857A9F9E1}"/>
              </a:ext>
            </a:extLst>
          </p:cNvPr>
          <p:cNvCxnSpPr/>
          <p:nvPr/>
        </p:nvCxnSpPr>
        <p:spPr>
          <a:xfrm>
            <a:off x="838200" y="1320798"/>
            <a:ext cx="10515600" cy="0"/>
          </a:xfrm>
          <a:prstGeom prst="line">
            <a:avLst/>
          </a:prstGeom>
          <a:ln w="444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729FAFA2-ADE5-A151-C89C-C75222FA307E}"/>
              </a:ext>
            </a:extLst>
          </p:cNvPr>
          <p:cNvSpPr txBox="1"/>
          <p:nvPr/>
        </p:nvSpPr>
        <p:spPr>
          <a:xfrm>
            <a:off x="838200" y="1649099"/>
            <a:ext cx="4972050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- Also known as a disjoint-set data structure, the union-find structure is a data structure that stores a collection of disjoint sets.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- The primary functions of it are adding new sets, merging sets, and finding the representing member of a set. 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FDA851B-B0BD-DAB6-976D-345BE5FDA741}"/>
              </a:ext>
            </a:extLst>
          </p:cNvPr>
          <p:cNvSpPr txBox="1"/>
          <p:nvPr/>
        </p:nvSpPr>
        <p:spPr>
          <a:xfrm>
            <a:off x="6096000" y="2413413"/>
            <a:ext cx="4972050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- This data structure is critical for Kruskal’s Algorithm as it allows for very efficient checking of loops. 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- Since union can only be called on two disconnected sets it ensures that no loops will be formed. When a valid union is found it means the edge connecting those two trees is valid.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0D11E4A-806D-12DE-477E-C0BBF40BA4D0}"/>
              </a:ext>
            </a:extLst>
          </p:cNvPr>
          <p:cNvSpPr txBox="1"/>
          <p:nvPr/>
        </p:nvSpPr>
        <p:spPr>
          <a:xfrm>
            <a:off x="0" y="6594047"/>
            <a:ext cx="6753225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>
                <a:hlinkClick r:id="rId3"/>
              </a:rPr>
              <a:t>https://en.wikipedia.org/wiki/Disjoint-set_data_structure</a:t>
            </a:r>
            <a:endParaRPr lang="en-US" sz="1100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D60A16F-A8BA-D852-1240-22F91FD2CD1C}"/>
              </a:ext>
            </a:extLst>
          </p:cNvPr>
          <p:cNvSpPr txBox="1"/>
          <p:nvPr/>
        </p:nvSpPr>
        <p:spPr>
          <a:xfrm>
            <a:off x="838200" y="4426782"/>
            <a:ext cx="4972050" cy="19236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- The find function allows for efficient checks of two elements sharing a set.</a:t>
            </a:r>
          </a:p>
          <a:p>
            <a:r>
              <a:rPr lang="en-US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- The find operation runs in near constant time, O(</a:t>
            </a:r>
            <a:r>
              <a:rPr lang="el-GR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α(</a:t>
            </a:r>
            <a:r>
              <a:rPr lang="en-US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n)).</a:t>
            </a:r>
            <a:br>
              <a:rPr lang="en-US" sz="1800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br>
              <a:rPr lang="en-US" sz="1800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1100" b="1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l-GR" sz="1100" b="1" dirty="0">
                <a:latin typeface="Courier New" panose="02070309020205020404" pitchFamily="49" charset="0"/>
                <a:cs typeface="Courier New" panose="02070309020205020404" pitchFamily="49" charset="0"/>
              </a:rPr>
              <a:t>α</a:t>
            </a:r>
            <a:r>
              <a:rPr lang="en-US" sz="1100" b="1" dirty="0">
                <a:latin typeface="Courier New" panose="02070309020205020404" pitchFamily="49" charset="0"/>
                <a:cs typeface="Courier New" panose="02070309020205020404" pitchFamily="49" charset="0"/>
              </a:rPr>
              <a:t> being the inverse Ackermann function)</a:t>
            </a:r>
            <a:endParaRPr lang="en-US" sz="18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4228799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F58279-4F34-98D8-A96E-C4E85C5FEE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Implementation of Kruskal’s Algorithm</a:t>
            </a: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4FB57532-EAF3-879D-0D43-58E8B0F15644}"/>
              </a:ext>
            </a:extLst>
          </p:cNvPr>
          <p:cNvCxnSpPr/>
          <p:nvPr/>
        </p:nvCxnSpPr>
        <p:spPr>
          <a:xfrm>
            <a:off x="838200" y="1625598"/>
            <a:ext cx="10515600" cy="0"/>
          </a:xfrm>
          <a:prstGeom prst="line">
            <a:avLst/>
          </a:prstGeom>
          <a:ln w="444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0249A219-CDF9-5F14-0613-A1DCD3AFB5DC}"/>
              </a:ext>
            </a:extLst>
          </p:cNvPr>
          <p:cNvSpPr txBox="1"/>
          <p:nvPr/>
        </p:nvSpPr>
        <p:spPr>
          <a:xfrm>
            <a:off x="930564" y="2106323"/>
            <a:ext cx="4448175" cy="3970318"/>
          </a:xfrm>
          <a:prstGeom prst="rect">
            <a:avLst/>
          </a:prstGeom>
          <a:noFill/>
          <a:ln w="25400">
            <a:solidFill>
              <a:schemeClr val="dk1"/>
            </a:solidFill>
          </a:ln>
        </p:spPr>
        <p:txBody>
          <a:bodyPr wrap="square" rtlCol="0">
            <a:spAutoFit/>
          </a:bodyPr>
          <a:lstStyle/>
          <a:p>
            <a:r>
              <a:rPr lang="en-US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1:</a:t>
            </a: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 Collect graph vertices and weighted edges</a:t>
            </a:r>
          </a:p>
          <a:p>
            <a:r>
              <a:rPr lang="en-US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2:</a:t>
            </a: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 Sort edges by weight</a:t>
            </a:r>
          </a:p>
          <a:p>
            <a:r>
              <a:rPr lang="en-US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3:</a:t>
            </a: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 Loop through the sorted edges in ascending order and: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US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3.1:</a:t>
            </a: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 Test if adding an edge would create a loop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US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3.2:</a:t>
            </a: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 If not, add edge connecting the vertices</a:t>
            </a:r>
          </a:p>
          <a:p>
            <a:r>
              <a:rPr lang="en-US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4:</a:t>
            </a: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 Once every vertex has been visited terminate the loop as the tree is complete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0E8D19B-D2CD-129B-DABF-047677C690B8}"/>
              </a:ext>
            </a:extLst>
          </p:cNvPr>
          <p:cNvSpPr txBox="1"/>
          <p:nvPr/>
        </p:nvSpPr>
        <p:spPr>
          <a:xfrm>
            <a:off x="5696527" y="2106323"/>
            <a:ext cx="5426364" cy="36933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- All vertices can be considered their own disconnected trees until joined by an edge to another tree.</a:t>
            </a:r>
          </a:p>
          <a:p>
            <a:endParaRPr lang="en-US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- Kruskal’s algorithm is considered greedy because it attempts to add all minimal weights first. A minimal weight is only not added if it makes the tree invalid.</a:t>
            </a:r>
          </a:p>
          <a:p>
            <a:endParaRPr lang="en-US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- Termination after all vertices are connected is done because any further edge connections would create a loop.</a:t>
            </a:r>
          </a:p>
        </p:txBody>
      </p:sp>
    </p:spTree>
    <p:extLst>
      <p:ext uri="{BB962C8B-B14F-4D97-AF65-F5344CB8AC3E}">
        <p14:creationId xmlns:p14="http://schemas.microsoft.com/office/powerpoint/2010/main" val="310314705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4D9466-A349-2F0A-12AA-FDF7E9DED3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Demonstration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3B40E27A-C7BC-3578-20CC-BDEB770698FB}"/>
              </a:ext>
            </a:extLst>
          </p:cNvPr>
          <p:cNvCxnSpPr>
            <a:cxnSpLocks/>
          </p:cNvCxnSpPr>
          <p:nvPr/>
        </p:nvCxnSpPr>
        <p:spPr>
          <a:xfrm>
            <a:off x="838200" y="1320798"/>
            <a:ext cx="6749374" cy="0"/>
          </a:xfrm>
          <a:prstGeom prst="line">
            <a:avLst/>
          </a:prstGeom>
          <a:ln w="444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7" name="Picture 6">
            <a:extLst>
              <a:ext uri="{FF2B5EF4-FFF2-40B4-BE49-F238E27FC236}">
                <a16:creationId xmlns:a16="http://schemas.microsoft.com/office/drawing/2014/main" id="{303ED222-68FD-8E6C-2BE2-2FA2C2AAC8D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65101" y="1545074"/>
            <a:ext cx="6583585" cy="4830013"/>
          </a:xfrm>
          <a:prstGeom prst="rect">
            <a:avLst/>
          </a:prstGeom>
        </p:spPr>
      </p:pic>
      <p:graphicFrame>
        <p:nvGraphicFramePr>
          <p:cNvPr id="12" name="Table 11">
            <a:extLst>
              <a:ext uri="{FF2B5EF4-FFF2-40B4-BE49-F238E27FC236}">
                <a16:creationId xmlns:a16="http://schemas.microsoft.com/office/drawing/2014/main" id="{ECB3A73B-4F39-5C12-214B-493CC4217A1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87667898"/>
              </p:ext>
            </p:extLst>
          </p:nvPr>
        </p:nvGraphicFramePr>
        <p:xfrm>
          <a:off x="1075985" y="1954116"/>
          <a:ext cx="2553040" cy="401193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564208">
                  <a:extLst>
                    <a:ext uri="{9D8B030D-6E8A-4147-A177-3AD203B41FA5}">
                      <a16:colId xmlns:a16="http://schemas.microsoft.com/office/drawing/2014/main" val="2557859904"/>
                    </a:ext>
                  </a:extLst>
                </a:gridCol>
                <a:gridCol w="366735">
                  <a:extLst>
                    <a:ext uri="{9D8B030D-6E8A-4147-A177-3AD203B41FA5}">
                      <a16:colId xmlns:a16="http://schemas.microsoft.com/office/drawing/2014/main" val="3061990853"/>
                    </a:ext>
                  </a:extLst>
                </a:gridCol>
                <a:gridCol w="564208">
                  <a:extLst>
                    <a:ext uri="{9D8B030D-6E8A-4147-A177-3AD203B41FA5}">
                      <a16:colId xmlns:a16="http://schemas.microsoft.com/office/drawing/2014/main" val="3491154785"/>
                    </a:ext>
                  </a:extLst>
                </a:gridCol>
                <a:gridCol w="1057889">
                  <a:extLst>
                    <a:ext uri="{9D8B030D-6E8A-4147-A177-3AD203B41FA5}">
                      <a16:colId xmlns:a16="http://schemas.microsoft.com/office/drawing/2014/main" val="1901454292"/>
                    </a:ext>
                  </a:extLst>
                </a:gridCol>
              </a:tblGrid>
              <a:tr h="200025">
                <a:tc gridSpan="3"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1" u="none" strike="noStrike" dirty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Edge</a:t>
                      </a:r>
                      <a:endParaRPr lang="en-US" sz="1400" b="1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1" u="none" strike="noStrike" dirty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Weight</a:t>
                      </a:r>
                      <a:endParaRPr lang="en-US" sz="1400" b="1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38456315"/>
                  </a:ext>
                </a:extLst>
              </a:tr>
              <a:tr h="200025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1" u="none" strike="noStrike" dirty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</a:t>
                      </a:r>
                      <a:endParaRPr lang="en-US" sz="1400" b="1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1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—</a:t>
                      </a:r>
                      <a:endParaRPr lang="en-US" sz="140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b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1" u="none" strike="noStrike" dirty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b</a:t>
                      </a:r>
                      <a:endParaRPr lang="en-US" sz="1400" b="1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b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1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</a:t>
                      </a:r>
                      <a:endParaRPr lang="en-US" sz="140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48892510"/>
                  </a:ext>
                </a:extLst>
              </a:tr>
              <a:tr h="200025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1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</a:t>
                      </a:r>
                      <a:endParaRPr lang="en-US" sz="140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1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—</a:t>
                      </a:r>
                      <a:endParaRPr lang="en-US" sz="140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b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1" u="none" strike="noStrike" dirty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</a:t>
                      </a:r>
                      <a:endParaRPr lang="en-US" sz="1400" b="1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b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1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</a:t>
                      </a:r>
                      <a:endParaRPr lang="en-US" sz="140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5483296"/>
                  </a:ext>
                </a:extLst>
              </a:tr>
              <a:tr h="200025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1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</a:t>
                      </a:r>
                      <a:endParaRPr lang="en-US" sz="140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1" u="none" strike="noStrike" dirty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—</a:t>
                      </a:r>
                      <a:endParaRPr lang="en-US" sz="1400" b="1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b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1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</a:t>
                      </a:r>
                      <a:endParaRPr lang="en-US" sz="140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b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1" u="none" strike="noStrike" dirty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</a:t>
                      </a:r>
                      <a:endParaRPr lang="en-US" sz="1400" b="1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5792580"/>
                  </a:ext>
                </a:extLst>
              </a:tr>
              <a:tr h="200025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1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b</a:t>
                      </a:r>
                      <a:endParaRPr lang="en-US" sz="140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1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—</a:t>
                      </a:r>
                      <a:endParaRPr lang="en-US" sz="140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b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1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</a:t>
                      </a:r>
                      <a:endParaRPr lang="en-US" sz="140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b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1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</a:t>
                      </a:r>
                      <a:endParaRPr lang="en-US" sz="140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48690243"/>
                  </a:ext>
                </a:extLst>
              </a:tr>
              <a:tr h="200025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1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</a:t>
                      </a:r>
                      <a:endParaRPr lang="en-US" sz="140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1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—</a:t>
                      </a:r>
                      <a:endParaRPr lang="en-US" sz="140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b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1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h</a:t>
                      </a:r>
                      <a:endParaRPr lang="en-US" sz="140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b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1" u="none" strike="noStrike" dirty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</a:t>
                      </a:r>
                      <a:endParaRPr lang="en-US" sz="1400" b="1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60429360"/>
                  </a:ext>
                </a:extLst>
              </a:tr>
              <a:tr h="200025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1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g</a:t>
                      </a:r>
                      <a:endParaRPr lang="en-US" sz="140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1" u="none" strike="noStrike" dirty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—</a:t>
                      </a:r>
                      <a:endParaRPr lang="en-US" sz="1400" b="1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b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1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k</a:t>
                      </a:r>
                      <a:endParaRPr lang="en-US" sz="140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b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1" u="none" strike="noStrike" dirty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</a:t>
                      </a:r>
                      <a:endParaRPr lang="en-US" sz="1400" b="1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52623038"/>
                  </a:ext>
                </a:extLst>
              </a:tr>
              <a:tr h="200025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1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</a:t>
                      </a:r>
                      <a:endParaRPr lang="en-US" sz="140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1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—</a:t>
                      </a:r>
                      <a:endParaRPr lang="en-US" sz="140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b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1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</a:t>
                      </a:r>
                      <a:endParaRPr lang="en-US" sz="140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b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1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2</a:t>
                      </a:r>
                      <a:endParaRPr lang="en-US" sz="140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76379450"/>
                  </a:ext>
                </a:extLst>
              </a:tr>
              <a:tr h="200025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1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j</a:t>
                      </a:r>
                      <a:endParaRPr lang="en-US" sz="140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1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—</a:t>
                      </a:r>
                      <a:endParaRPr lang="en-US" sz="140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b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1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k</a:t>
                      </a:r>
                      <a:endParaRPr lang="en-US" sz="140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b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1" u="none" strike="noStrike" dirty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2</a:t>
                      </a:r>
                      <a:endParaRPr lang="en-US" sz="1400" b="1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55545629"/>
                  </a:ext>
                </a:extLst>
              </a:tr>
              <a:tr h="200025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1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k</a:t>
                      </a:r>
                      <a:endParaRPr lang="en-US" sz="140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1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—</a:t>
                      </a:r>
                      <a:endParaRPr lang="en-US" sz="140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b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1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l</a:t>
                      </a:r>
                      <a:endParaRPr lang="en-US" sz="140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b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1" u="none" strike="noStrike" dirty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2</a:t>
                      </a:r>
                      <a:endParaRPr lang="en-US" sz="1400" b="1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97850411"/>
                  </a:ext>
                </a:extLst>
              </a:tr>
              <a:tr h="200025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1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b</a:t>
                      </a:r>
                      <a:endParaRPr lang="en-US" sz="140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1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—</a:t>
                      </a:r>
                      <a:endParaRPr lang="en-US" sz="140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b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1" u="none" strike="noStrike" dirty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</a:t>
                      </a:r>
                      <a:endParaRPr lang="en-US" sz="1400" b="1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b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1" u="none" strike="noStrike" dirty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3</a:t>
                      </a:r>
                      <a:endParaRPr lang="en-US" sz="1400" b="1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01430871"/>
                  </a:ext>
                </a:extLst>
              </a:tr>
              <a:tr h="200025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1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</a:t>
                      </a:r>
                      <a:endParaRPr lang="en-US" sz="140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1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—</a:t>
                      </a:r>
                      <a:endParaRPr lang="en-US" sz="140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b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1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j</a:t>
                      </a:r>
                      <a:endParaRPr lang="en-US" sz="140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b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1" u="none" strike="noStrike" dirty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3</a:t>
                      </a:r>
                      <a:endParaRPr lang="en-US" sz="1400" b="1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2840175"/>
                  </a:ext>
                </a:extLst>
              </a:tr>
              <a:tr h="200025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1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</a:t>
                      </a:r>
                      <a:endParaRPr lang="en-US" sz="140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1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—</a:t>
                      </a:r>
                      <a:endParaRPr lang="en-US" sz="140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b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1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g</a:t>
                      </a:r>
                      <a:endParaRPr lang="en-US" sz="140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b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1" u="none" strike="noStrike" dirty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4</a:t>
                      </a:r>
                      <a:endParaRPr lang="en-US" sz="1400" b="1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00122676"/>
                  </a:ext>
                </a:extLst>
              </a:tr>
              <a:tr h="200025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1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</a:t>
                      </a:r>
                      <a:endParaRPr lang="en-US" sz="140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1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—</a:t>
                      </a:r>
                      <a:endParaRPr lang="en-US" sz="140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b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1" u="none" strike="noStrike" dirty="0" err="1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</a:t>
                      </a:r>
                      <a:endParaRPr lang="en-US" sz="1400" b="1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b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1" u="none" strike="noStrike" dirty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4</a:t>
                      </a:r>
                      <a:endParaRPr lang="en-US" sz="1400" b="1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1691122"/>
                  </a:ext>
                </a:extLst>
              </a:tr>
              <a:tr h="200025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1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h</a:t>
                      </a:r>
                      <a:endParaRPr lang="en-US" sz="140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1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—</a:t>
                      </a:r>
                      <a:endParaRPr lang="en-US" sz="140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b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1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j</a:t>
                      </a:r>
                      <a:endParaRPr lang="en-US" sz="140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b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1" u="none" strike="noStrike" dirty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4</a:t>
                      </a:r>
                      <a:endParaRPr lang="en-US" sz="1400" b="1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81745298"/>
                  </a:ext>
                </a:extLst>
              </a:tr>
              <a:tr h="200025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1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</a:t>
                      </a:r>
                      <a:endParaRPr lang="en-US" sz="140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1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—</a:t>
                      </a:r>
                      <a:endParaRPr lang="en-US" sz="140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b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1" u="none" strike="noStrike" dirty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g</a:t>
                      </a:r>
                      <a:endParaRPr lang="en-US" sz="1400" b="1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b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1" u="none" strike="noStrike" dirty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6</a:t>
                      </a:r>
                      <a:endParaRPr lang="en-US" sz="1400" b="1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50393210"/>
                  </a:ext>
                </a:extLst>
              </a:tr>
              <a:tr h="200025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1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</a:t>
                      </a:r>
                      <a:endParaRPr lang="en-US" sz="140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1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—</a:t>
                      </a:r>
                      <a:endParaRPr lang="en-US" sz="140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b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1" u="none" strike="noStrike" dirty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j</a:t>
                      </a:r>
                      <a:endParaRPr lang="en-US" sz="1400" b="1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b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1" u="none" strike="noStrike" dirty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11</a:t>
                      </a:r>
                      <a:endParaRPr lang="en-US" sz="1400" b="1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7746005"/>
                  </a:ext>
                </a:extLst>
              </a:tr>
              <a:tr h="200025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1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g</a:t>
                      </a:r>
                      <a:endParaRPr lang="en-US" sz="140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1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—</a:t>
                      </a:r>
                      <a:endParaRPr lang="en-US" sz="140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b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1" u="none" strike="noStrike" dirty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h</a:t>
                      </a:r>
                      <a:endParaRPr lang="en-US" sz="1400" b="1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b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1" u="none" strike="noStrike" dirty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14</a:t>
                      </a:r>
                      <a:endParaRPr lang="en-US" sz="1400" b="1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2682353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71713950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F53A6C-0830-FF2E-C7B4-1A4812A596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GitHub repository &amp; Sources</a:t>
            </a: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94B7F427-C3E0-F420-5795-5B77230EB33F}"/>
              </a:ext>
            </a:extLst>
          </p:cNvPr>
          <p:cNvCxnSpPr/>
          <p:nvPr/>
        </p:nvCxnSpPr>
        <p:spPr>
          <a:xfrm>
            <a:off x="838200" y="1320798"/>
            <a:ext cx="10515600" cy="0"/>
          </a:xfrm>
          <a:prstGeom prst="line">
            <a:avLst/>
          </a:prstGeom>
          <a:ln w="444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5" name="TextBox 4">
            <a:extLst>
              <a:ext uri="{FF2B5EF4-FFF2-40B4-BE49-F238E27FC236}">
                <a16:creationId xmlns:a16="http://schemas.microsoft.com/office/drawing/2014/main" id="{85CFB44E-C851-7F8C-5118-192A9059B2C6}"/>
              </a:ext>
            </a:extLst>
          </p:cNvPr>
          <p:cNvSpPr txBox="1"/>
          <p:nvPr/>
        </p:nvSpPr>
        <p:spPr>
          <a:xfrm>
            <a:off x="838200" y="1881981"/>
            <a:ext cx="105156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GitHub repository: </a:t>
            </a:r>
            <a:r>
              <a:rPr lang="en-US" dirty="0">
                <a:hlinkClick r:id="rId3"/>
              </a:rPr>
              <a:t>https://github.com/ShaunJae/CIS112Final</a:t>
            </a:r>
            <a:endParaRPr 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AA737E9-8A86-7197-DCB5-4BA5CB2D4DC8}"/>
              </a:ext>
            </a:extLst>
          </p:cNvPr>
          <p:cNvSpPr txBox="1"/>
          <p:nvPr/>
        </p:nvSpPr>
        <p:spPr>
          <a:xfrm>
            <a:off x="838200" y="2665133"/>
            <a:ext cx="10515600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Glassdoor – Interview question: </a:t>
            </a:r>
            <a:r>
              <a:rPr lang="en-US" dirty="0">
                <a:hlinkClick r:id="rId4"/>
              </a:rPr>
              <a:t>https://www.glassdoor.com/Interview/Implement-kruskal-s-algorithm-in-about-30-minutes-QTN_1966985.htm</a:t>
            </a:r>
            <a:endParaRPr lang="en-US" dirty="0"/>
          </a:p>
          <a:p>
            <a:r>
              <a:rPr lang="en-US" dirty="0"/>
              <a:t>Wikipedia - Minimum Spanning Trees: </a:t>
            </a:r>
            <a:r>
              <a:rPr lang="en-US" dirty="0">
                <a:hlinkClick r:id="rId5"/>
              </a:rPr>
              <a:t>https://en.wikipedia.org/wiki/Minimum_spanning_tree#Algorithms</a:t>
            </a:r>
            <a:br>
              <a:rPr lang="en-US" dirty="0"/>
            </a:br>
            <a:r>
              <a:rPr lang="en-US" dirty="0"/>
              <a:t>Wikipedia - Kruskal’s Algorithm: </a:t>
            </a:r>
            <a:r>
              <a:rPr lang="en-US" dirty="0">
                <a:hlinkClick r:id="rId6"/>
              </a:rPr>
              <a:t>https://en.wikipedia.org/wiki/Kruskal's_algorithm</a:t>
            </a:r>
            <a:endParaRPr lang="en-US" dirty="0"/>
          </a:p>
          <a:p>
            <a:r>
              <a:rPr lang="en-US" dirty="0"/>
              <a:t>Wikipedia - Disjoint-Set Data Structure: </a:t>
            </a:r>
            <a:r>
              <a:rPr lang="en-US" dirty="0">
                <a:hlinkClick r:id="rId7"/>
              </a:rPr>
              <a:t>https://en.wikipedia.org/wiki/Disjoint-set_data_structure</a:t>
            </a:r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2561160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490</TotalTime>
  <Words>775</Words>
  <Application>Microsoft Office PowerPoint</Application>
  <PresentationFormat>Widescreen</PresentationFormat>
  <Paragraphs>135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3" baseType="lpstr">
      <vt:lpstr>Aptos</vt:lpstr>
      <vt:lpstr>Aptos Display</vt:lpstr>
      <vt:lpstr>Arial</vt:lpstr>
      <vt:lpstr>Courier New</vt:lpstr>
      <vt:lpstr>Office Theme</vt:lpstr>
      <vt:lpstr>PowerPoint Presentation</vt:lpstr>
      <vt:lpstr>What is an MST? (Minimum Spanning Tree)</vt:lpstr>
      <vt:lpstr>Who might care about MSTs?</vt:lpstr>
      <vt:lpstr>Methods for finding an MST</vt:lpstr>
      <vt:lpstr>Union-Find ADT</vt:lpstr>
      <vt:lpstr>Implementation of Kruskal’s Algorithm</vt:lpstr>
      <vt:lpstr>Demonstration</vt:lpstr>
      <vt:lpstr>GitHub repository &amp; Sources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Shaun Jaeschke</dc:creator>
  <cp:lastModifiedBy>Shaun Jaeschke</cp:lastModifiedBy>
  <cp:revision>4</cp:revision>
  <dcterms:created xsi:type="dcterms:W3CDTF">2026-08-10T18:19:13Z</dcterms:created>
  <dcterms:modified xsi:type="dcterms:W3CDTF">2026-08-11T02:29:27Z</dcterms:modified>
</cp:coreProperties>
</file>