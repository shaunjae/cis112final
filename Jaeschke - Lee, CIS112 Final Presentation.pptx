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168A8B-5A68-477D-8CAF-8D6F84EF510A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C0B45-05A4-487E-9942-37DBE4C19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9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C0B45-05A4-487E-9942-37DBE4C197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70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C62B7-CEFA-3A32-5989-380ADA184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BC55F2-5FC6-A2D4-2BDA-5D8E09C64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734BF-4202-107B-D179-BC4A4F0C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22ED1-BB83-8502-524E-22562CB5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E15FA-B5B0-D013-5229-56BFCCF8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9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CEF9D-66E6-11E9-4E51-B33DC10FE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2D3FC-6178-3242-163F-B9DB62406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698CF-D263-3287-DED1-9981B84B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50AFF-45FF-93DE-A2FE-124362CD3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52588-564F-8E92-1305-C63DC4CE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3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C517-98FE-B0CB-A984-DF8EB1AAD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80306-21C6-1657-8563-11CFF370E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865FB-C23D-06D8-4C78-F99CE16D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5A293-0B4F-A069-37D6-25F607D1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7E750-739B-4BD3-B503-90FD7986C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94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C04BC-4DEC-AC60-AAAE-91AFEB3B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39E5-632F-C146-9EE3-5990B0112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B52D7-4B37-A3E7-8FBE-1CE70DBAD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43C38-79FA-64C9-7F54-010F87CB1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64E37-16DA-4AF6-4361-115F247F5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5D646-D5EC-2D14-E027-25E0CB5F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49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BC596-C87C-92A6-270F-F15CC30C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90F56-A1BC-C6CD-53D3-6E1AC90A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6AE07-10D6-1AE6-DD57-3CB47E7D3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372F86-D171-693D-E2DD-9770F27C6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96253D-6ADB-64E2-76E5-0DD2C897CE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CB3B82-7B5F-980D-7E1B-4CABFB149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562128-F3E4-A7A5-F955-6D4A5C9E2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EAFBD3-52A1-B116-D265-67F536CA8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60376-C2A8-B7D4-CB1C-5762E24B5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30B2DB-60D2-C6AD-789E-5F169868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8670E9-5C7B-D423-8351-B8450B1A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4D24E-03CE-4BE0-CE98-E6B044CA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80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9AC16-FD74-AE4D-725A-E89186A4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938319-54DD-3DB6-62D0-D85993D2C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10493-33A6-1324-7E91-65EFE5241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7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982D-2DB3-FB63-1595-2F933FDF4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78A87-60E7-EC2C-D197-41C04A6FB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90A90-6E59-E5B3-3447-334DA599C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7D3D3-D369-BEC4-0238-F560A0D05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F2E7B-9A06-A04E-20C0-32FDFBA7A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159435-C6E7-2082-B3D9-8DA327C7C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48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B71A2-B204-C4FD-55F2-DA383395C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95FDA2-B426-9128-0BC6-6FD44AA20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C3C0B-2972-9DBD-65A9-30EE22EEA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C2C57-03B0-1040-78AB-679A0993C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D4655-E78F-D4A6-466C-900B9E12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AC656-46AC-42D7-EEA3-36D46979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08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85D47-CF01-BA8D-C34F-AFB1A4558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48ABD-10DC-FEDF-FB6F-194B4C86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2E307-A6CC-F6B5-C1FE-E92CE86C1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12E76-BDF7-C0F6-A863-59E7C2018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F1AD-A8D5-8025-2B43-0567F6E3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04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86A6D3-27D8-DBE9-C759-DE1250AE1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9D6A5-F166-B5DB-FA08-3184D0688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7A089-9CB7-1C37-9415-FEA74EA6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FEB91-9C87-5F6C-61BC-1421F932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3F8BF-F9BD-A722-6BA6-94D3FC0D7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2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458C63-3189-7FDD-D40D-54B37080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F57F1-0DAF-B6CE-6A6C-6DE701933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4F6A8-2696-BD93-9642-77F0BFFDA4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23D63-19B7-43D7-AD90-3C5D81862513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69CE5-D9B5-E871-FEA3-FF285033C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D08575-A3B1-39B1-E681-3D724E2BB0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94CD2-8471-409D-9091-AA18A823A6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9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lassdoor.com/Interview/Implement-kruskal-s-algorithm-in-about-30-minutes-QTN_1966985.h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Kruskal's_algorithm" TargetMode="External"/><Relationship Id="rId2" Type="http://schemas.openxmlformats.org/officeDocument/2006/relationships/hyperlink" Target="https://en.wikipedia.org/wiki/Minimum_spanning_tree#Algorithm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Disjoint-set_data_structur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lassdoor.com/Interview/Implement-kruskal-s-algorithm-in-about-30-minutes-QTN_1966985.htm" TargetMode="External"/><Relationship Id="rId2" Type="http://schemas.openxmlformats.org/officeDocument/2006/relationships/hyperlink" Target="https://github.com/ShaunJae/CIS112Fina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Disjoint-set_data_structure" TargetMode="External"/><Relationship Id="rId5" Type="http://schemas.openxmlformats.org/officeDocument/2006/relationships/hyperlink" Target="https://en.wikipedia.org/wiki/Kruskal's_algorithm" TargetMode="External"/><Relationship Id="rId4" Type="http://schemas.openxmlformats.org/officeDocument/2006/relationships/hyperlink" Target="https://en.wikipedia.org/wiki/Minimum_spanning_tree#Algorithm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E376A3A-0228-8E1B-78BE-AFACC392E2A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8000"/>
                    </a14:imgEffect>
                    <a14:imgEffect>
                      <a14:saturation sat="32000"/>
                    </a14:imgEffect>
                    <a14:imgEffect>
                      <a14:brightnessContrast bright="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33020">
            <a:off x="-842678" y="-1194586"/>
            <a:ext cx="14562439" cy="106836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AEEBD5-A983-C0E1-6410-570E56C860DC}"/>
              </a:ext>
            </a:extLst>
          </p:cNvPr>
          <p:cNvSpPr txBox="1"/>
          <p:nvPr/>
        </p:nvSpPr>
        <p:spPr>
          <a:xfrm>
            <a:off x="2240237" y="5497002"/>
            <a:ext cx="7712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Shaun Jaeschke &amp; Julian Lee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45B53-EAA5-32F5-83A1-3752FB3FB4C0}"/>
              </a:ext>
            </a:extLst>
          </p:cNvPr>
          <p:cNvSpPr txBox="1"/>
          <p:nvPr/>
        </p:nvSpPr>
        <p:spPr>
          <a:xfrm>
            <a:off x="2239818" y="1360998"/>
            <a:ext cx="771236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Minimum Spanning Trees</a:t>
            </a:r>
          </a:p>
          <a:p>
            <a:pPr algn="ctr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along a weighted graph using</a:t>
            </a:r>
          </a:p>
          <a:p>
            <a:pPr algn="ctr"/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Kruskal’s Algorithm</a:t>
            </a:r>
          </a:p>
        </p:txBody>
      </p:sp>
    </p:spTree>
    <p:extLst>
      <p:ext uri="{BB962C8B-B14F-4D97-AF65-F5344CB8AC3E}">
        <p14:creationId xmlns:p14="http://schemas.microsoft.com/office/powerpoint/2010/main" val="3838979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1309C-4613-A935-7E8E-086B73FB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What is an MST?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(Minimum Spanning Tree)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86485D0-1162-003C-9E57-1FEEA8878C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152" y="1712912"/>
            <a:ext cx="5931123" cy="43513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209CCC1-C044-2BE6-EFAC-53C8244237A4}"/>
              </a:ext>
            </a:extLst>
          </p:cNvPr>
          <p:cNvSpPr txBox="1"/>
          <p:nvPr/>
        </p:nvSpPr>
        <p:spPr>
          <a:xfrm>
            <a:off x="838200" y="2295525"/>
            <a:ext cx="444817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An MST is the tree connecting all nodes in a graph with the minimal total edge length.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By definition of being a tree, it contains no loops. 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These trees are often useful for network optimization tasks, logistics chains, utilities planning, and infrastructure.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AE1F93-40A2-12AB-8CA2-057592624CDA}"/>
              </a:ext>
            </a:extLst>
          </p:cNvPr>
          <p:cNvCxnSpPr/>
          <p:nvPr/>
        </p:nvCxnSpPr>
        <p:spPr>
          <a:xfrm>
            <a:off x="838200" y="1320798"/>
            <a:ext cx="10515600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143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68C61-F01B-4A0D-4B9D-93562CF7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Who might care about MSTs?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AABB11-277B-7495-A212-AD3F4DCB0E33}"/>
              </a:ext>
            </a:extLst>
          </p:cNvPr>
          <p:cNvCxnSpPr/>
          <p:nvPr/>
        </p:nvCxnSpPr>
        <p:spPr>
          <a:xfrm>
            <a:off x="838200" y="1320798"/>
            <a:ext cx="10515600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136F03-EAB8-5F60-844D-9E9873F6AF47}"/>
              </a:ext>
            </a:extLst>
          </p:cNvPr>
          <p:cNvSpPr txBox="1"/>
          <p:nvPr/>
        </p:nvSpPr>
        <p:spPr>
          <a:xfrm>
            <a:off x="995217" y="1711028"/>
            <a:ext cx="72066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 mentioned earlier any companies dealing with networks and logistics will use some amount of MST logic for optimization in their systems.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E3A71F-0B0A-FF5E-F5C5-5D215AE47285}"/>
              </a:ext>
            </a:extLst>
          </p:cNvPr>
          <p:cNvSpPr txBox="1"/>
          <p:nvPr/>
        </p:nvSpPr>
        <p:spPr>
          <a:xfrm>
            <a:off x="2274455" y="3302058"/>
            <a:ext cx="9282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Examples include telecommunication companies such as phone carriers and internet service providers, electrical &amp; utility grid services, and logistics &amp; transportation such as Amazon or USPS.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8EDD95-8FBA-C83D-2408-5DA7F89093A9}"/>
              </a:ext>
            </a:extLst>
          </p:cNvPr>
          <p:cNvSpPr txBox="1"/>
          <p:nvPr/>
        </p:nvSpPr>
        <p:spPr>
          <a:xfrm>
            <a:off x="995217" y="4990865"/>
            <a:ext cx="72066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Implementation of Kruskal’s algorithm within 30 minutes has been reported as an interview question at Amazon.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5DCC25-A98F-50D3-082C-ECDA6AFF34E6}"/>
              </a:ext>
            </a:extLst>
          </p:cNvPr>
          <p:cNvSpPr txBox="1"/>
          <p:nvPr/>
        </p:nvSpPr>
        <p:spPr>
          <a:xfrm>
            <a:off x="0" y="6581895"/>
            <a:ext cx="76384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2"/>
              </a:rPr>
              <a:t>https://www.glassdoor.com/Interview/Implement-kruskal-s-algorithm-in-about-30-minutes-QTN_1966985.htm</a:t>
            </a:r>
            <a:endParaRPr lang="en-US" sz="11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6193FDE-217C-3C72-0024-1A3383840BC3}"/>
              </a:ext>
            </a:extLst>
          </p:cNvPr>
          <p:cNvCxnSpPr/>
          <p:nvPr/>
        </p:nvCxnSpPr>
        <p:spPr>
          <a:xfrm>
            <a:off x="1819564" y="3158836"/>
            <a:ext cx="3371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C7FACE-367F-3298-2C1B-680435844A3A}"/>
              </a:ext>
            </a:extLst>
          </p:cNvPr>
          <p:cNvCxnSpPr/>
          <p:nvPr/>
        </p:nvCxnSpPr>
        <p:spPr>
          <a:xfrm>
            <a:off x="1819564" y="4789053"/>
            <a:ext cx="33712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1033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6849-4A82-AC53-B92B-16878A91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Methods for finding an MST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C83AF-0D78-C534-B93A-DE37F310894E}"/>
              </a:ext>
            </a:extLst>
          </p:cNvPr>
          <p:cNvSpPr txBox="1"/>
          <p:nvPr/>
        </p:nvSpPr>
        <p:spPr>
          <a:xfrm>
            <a:off x="838200" y="1856941"/>
            <a:ext cx="444817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Various algorithms for finding an MST exist. Most of classics are what are considered 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greedy algorithms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ones that make logically optimal choices at each step and do not reconsider past choices.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One of the classic algorithms is 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Kruskal’s Algorithm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 Its key features include sorting, and utilization of a </a:t>
            </a:r>
            <a:r>
              <a:rPr lang="en-US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disjoint-set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data structure.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9FEA87-2902-25BD-BB20-E0D113A0DB2F}"/>
              </a:ext>
            </a:extLst>
          </p:cNvPr>
          <p:cNvSpPr txBox="1"/>
          <p:nvPr/>
        </p:nvSpPr>
        <p:spPr>
          <a:xfrm>
            <a:off x="0" y="6427113"/>
            <a:ext cx="640985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2"/>
              </a:rPr>
              <a:t>https://en.wikipedia.org/wiki/Minimum_spanning_tree#Algorithms</a:t>
            </a:r>
            <a:endParaRPr lang="en-US" sz="1100" dirty="0"/>
          </a:p>
          <a:p>
            <a:r>
              <a:rPr lang="en-US" sz="1100" dirty="0">
                <a:hlinkClick r:id="rId3"/>
              </a:rPr>
              <a:t>https://en.wikipedia.org/wiki/Kruskal's_algorithm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D2F9CC-BBC6-0B00-8B1F-70001B2BB9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781" y="1709161"/>
            <a:ext cx="3715328" cy="3821818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B7A84ED-547B-B486-BC6C-3FAF6B6D0592}"/>
              </a:ext>
            </a:extLst>
          </p:cNvPr>
          <p:cNvSpPr/>
          <p:nvPr/>
        </p:nvSpPr>
        <p:spPr>
          <a:xfrm>
            <a:off x="6858000" y="5549452"/>
            <a:ext cx="3511550" cy="57512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Animation of Kruskal's algorithm on a complete graph with weights based on Euclidean distance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D61403-D35A-6F73-717C-3FFEB7CBF941}"/>
              </a:ext>
            </a:extLst>
          </p:cNvPr>
          <p:cNvCxnSpPr/>
          <p:nvPr/>
        </p:nvCxnSpPr>
        <p:spPr>
          <a:xfrm>
            <a:off x="838200" y="1320798"/>
            <a:ext cx="10515600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581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58279-4F34-98D8-A96E-C4E85C5F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Implementation of Kruskal’s Algorithm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B57532-EAF3-879D-0D43-58E8B0F15644}"/>
              </a:ext>
            </a:extLst>
          </p:cNvPr>
          <p:cNvCxnSpPr/>
          <p:nvPr/>
        </p:nvCxnSpPr>
        <p:spPr>
          <a:xfrm>
            <a:off x="838200" y="1625598"/>
            <a:ext cx="10515600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249A219-CDF9-5F14-0613-A1DCD3AFB5DC}"/>
              </a:ext>
            </a:extLst>
          </p:cNvPr>
          <p:cNvSpPr txBox="1"/>
          <p:nvPr/>
        </p:nvSpPr>
        <p:spPr>
          <a:xfrm>
            <a:off x="930564" y="2106323"/>
            <a:ext cx="4448175" cy="3970318"/>
          </a:xfrm>
          <a:prstGeom prst="rect">
            <a:avLst/>
          </a:prstGeom>
          <a:noFill/>
          <a:ln w="25400"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Collect graph vertices and weighted edges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2: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Sort edges by weight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3: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Loop through the sorted edges in ascending order and: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3.1: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Test if adding an edge would create a loop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3.2: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If not, add edge connecting the vertices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4: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Once every vertex has been visited terminate the loop as the tree is complete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8D19B-D2CD-129B-DABF-047677C690B8}"/>
              </a:ext>
            </a:extLst>
          </p:cNvPr>
          <p:cNvSpPr txBox="1"/>
          <p:nvPr/>
        </p:nvSpPr>
        <p:spPr>
          <a:xfrm>
            <a:off x="5696527" y="2106323"/>
            <a:ext cx="54263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All vertices can be considered their own disconnected trees until joined by an edge to another tree.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Kruskal’s algorithm is considered greedy because it attempts to add all minimal weights first. A minimal weight is only not added if it makes the tree invalid.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Termination after all vertices are connected is done because any further edge connections would create a loop.</a:t>
            </a:r>
          </a:p>
        </p:txBody>
      </p:sp>
    </p:spTree>
    <p:extLst>
      <p:ext uri="{BB962C8B-B14F-4D97-AF65-F5344CB8AC3E}">
        <p14:creationId xmlns:p14="http://schemas.microsoft.com/office/powerpoint/2010/main" val="310314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9466-A349-2F0A-12AA-FDF7E9DE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Demonstration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B40E27A-C7BC-3578-20CC-BDEB770698FB}"/>
              </a:ext>
            </a:extLst>
          </p:cNvPr>
          <p:cNvCxnSpPr>
            <a:cxnSpLocks/>
          </p:cNvCxnSpPr>
          <p:nvPr/>
        </p:nvCxnSpPr>
        <p:spPr>
          <a:xfrm>
            <a:off x="838200" y="1320798"/>
            <a:ext cx="6749374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03ED222-68FD-8E6C-2BE2-2FA2C2AAC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101" y="1545074"/>
            <a:ext cx="6583585" cy="4830013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CB3A73B-4F39-5C12-214B-493CC4217A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667898"/>
              </p:ext>
            </p:extLst>
          </p:nvPr>
        </p:nvGraphicFramePr>
        <p:xfrm>
          <a:off x="1075985" y="1954116"/>
          <a:ext cx="2553040" cy="4011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08">
                  <a:extLst>
                    <a:ext uri="{9D8B030D-6E8A-4147-A177-3AD203B41FA5}">
                      <a16:colId xmlns:a16="http://schemas.microsoft.com/office/drawing/2014/main" val="2557859904"/>
                    </a:ext>
                  </a:extLst>
                </a:gridCol>
                <a:gridCol w="366735">
                  <a:extLst>
                    <a:ext uri="{9D8B030D-6E8A-4147-A177-3AD203B41FA5}">
                      <a16:colId xmlns:a16="http://schemas.microsoft.com/office/drawing/2014/main" val="3061990853"/>
                    </a:ext>
                  </a:extLst>
                </a:gridCol>
                <a:gridCol w="564208">
                  <a:extLst>
                    <a:ext uri="{9D8B030D-6E8A-4147-A177-3AD203B41FA5}">
                      <a16:colId xmlns:a16="http://schemas.microsoft.com/office/drawing/2014/main" val="3491154785"/>
                    </a:ext>
                  </a:extLst>
                </a:gridCol>
                <a:gridCol w="1057889">
                  <a:extLst>
                    <a:ext uri="{9D8B030D-6E8A-4147-A177-3AD203B41FA5}">
                      <a16:colId xmlns:a16="http://schemas.microsoft.com/office/drawing/2014/main" val="1901454292"/>
                    </a:ext>
                  </a:extLst>
                </a:gridCol>
              </a:tblGrid>
              <a:tr h="200025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Edge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Weight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45631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8925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329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925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69024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4293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6230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637945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54562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k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8504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43087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84017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1226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69112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7452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039321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46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—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6823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139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DFC0-9CD0-5F3D-13F1-B7BDDCA0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Union-Find ADT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1EC3CC-DC6F-FF5E-3943-C97857A9F9E1}"/>
              </a:ext>
            </a:extLst>
          </p:cNvPr>
          <p:cNvCxnSpPr/>
          <p:nvPr/>
        </p:nvCxnSpPr>
        <p:spPr>
          <a:xfrm>
            <a:off x="838200" y="1320798"/>
            <a:ext cx="10515600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29FAFA2-ADE5-A151-C89C-C75222FA307E}"/>
              </a:ext>
            </a:extLst>
          </p:cNvPr>
          <p:cNvSpPr txBox="1"/>
          <p:nvPr/>
        </p:nvSpPr>
        <p:spPr>
          <a:xfrm>
            <a:off x="838200" y="1776413"/>
            <a:ext cx="49720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Also known as a disjoint-set data structure, the union-find structure is a data structure that stores a collection of disjoint sets.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The primary functions of it are adding new sets, merging sets, and finding the representing member of a set.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The find function allows for efficient checks of two elements sharing a set.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DA851B-B0BD-DAB6-976D-345BE5FDA741}"/>
              </a:ext>
            </a:extLst>
          </p:cNvPr>
          <p:cNvSpPr txBox="1"/>
          <p:nvPr/>
        </p:nvSpPr>
        <p:spPr>
          <a:xfrm>
            <a:off x="6096000" y="2276472"/>
            <a:ext cx="4972050" cy="386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This data structure is critical for Kruskal’s Algorithm as it allows for very efficient checking of loops.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Since union can only be called on two disconnected sets it ensures that no loops will be formed. When a valid union is found it means the edge connecting those two trees is valid.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 The find operation runs in near constant time, O(</a:t>
            </a:r>
            <a:r>
              <a:rPr lang="el-GR" b="1" dirty="0">
                <a:latin typeface="Courier New" panose="02070309020205020404" pitchFamily="49" charset="0"/>
                <a:cs typeface="Courier New" panose="02070309020205020404" pitchFamily="49" charset="0"/>
              </a:rPr>
              <a:t>α(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n).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l-GR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α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being the inverse Ackermann function)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11E4A-806D-12DE-477E-C0BBF40BA4D0}"/>
              </a:ext>
            </a:extLst>
          </p:cNvPr>
          <p:cNvSpPr txBox="1"/>
          <p:nvPr/>
        </p:nvSpPr>
        <p:spPr>
          <a:xfrm>
            <a:off x="0" y="6594047"/>
            <a:ext cx="67532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2"/>
              </a:rPr>
              <a:t>https://en.wikipedia.org/wiki/Disjoint-set_data_structure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42287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3A6C-0830-FF2E-C7B4-1A4812A59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GitHub repository &amp; Sources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B7F427-C3E0-F420-5795-5B77230EB33F}"/>
              </a:ext>
            </a:extLst>
          </p:cNvPr>
          <p:cNvCxnSpPr/>
          <p:nvPr/>
        </p:nvCxnSpPr>
        <p:spPr>
          <a:xfrm>
            <a:off x="838200" y="1320798"/>
            <a:ext cx="10515600" cy="0"/>
          </a:xfrm>
          <a:prstGeom prst="line">
            <a:avLst/>
          </a:prstGeom>
          <a:ln w="444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5CFB44E-C851-7F8C-5118-192A9059B2C6}"/>
              </a:ext>
            </a:extLst>
          </p:cNvPr>
          <p:cNvSpPr txBox="1"/>
          <p:nvPr/>
        </p:nvSpPr>
        <p:spPr>
          <a:xfrm>
            <a:off x="838200" y="1881981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GitHub repository: </a:t>
            </a:r>
            <a:r>
              <a:rPr lang="en-US" dirty="0">
                <a:hlinkClick r:id="rId2"/>
              </a:rPr>
              <a:t>https://github.com/ShaunJae/CIS112Final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A737E9-8A86-7197-DCB5-4BA5CB2D4DC8}"/>
              </a:ext>
            </a:extLst>
          </p:cNvPr>
          <p:cNvSpPr txBox="1"/>
          <p:nvPr/>
        </p:nvSpPr>
        <p:spPr>
          <a:xfrm>
            <a:off x="838200" y="2665133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Glassdoor – Interview question: </a:t>
            </a:r>
            <a:r>
              <a:rPr lang="en-US" dirty="0">
                <a:hlinkClick r:id="rId3"/>
              </a:rPr>
              <a:t>https://www.glassdoor.com/Interview/Implement-kruskal-s-algorithm-in-about-30-minutes-QTN_1966985.htm</a:t>
            </a:r>
            <a:endParaRPr lang="en-US" dirty="0"/>
          </a:p>
          <a:p>
            <a:r>
              <a:rPr lang="en-US" dirty="0"/>
              <a:t>Wikipedia - Minimum Spanning Trees: </a:t>
            </a:r>
            <a:r>
              <a:rPr lang="en-US" dirty="0">
                <a:hlinkClick r:id="rId4"/>
              </a:rPr>
              <a:t>https://en.wikipedia.org/wiki/Minimum_spanning_tree#Algorithms</a:t>
            </a:r>
            <a:br>
              <a:rPr lang="en-US" dirty="0"/>
            </a:br>
            <a:r>
              <a:rPr lang="en-US" dirty="0"/>
              <a:t>Wikipedia - Kruskal’s Algorithm: </a:t>
            </a:r>
            <a:r>
              <a:rPr lang="en-US" dirty="0">
                <a:hlinkClick r:id="rId5"/>
              </a:rPr>
              <a:t>https://en.wikipedia.org/wiki/Kruskal's_algorithm</a:t>
            </a:r>
            <a:endParaRPr lang="en-US" dirty="0"/>
          </a:p>
          <a:p>
            <a:r>
              <a:rPr lang="en-US" dirty="0"/>
              <a:t>Wikipedia - Disjoint-Set Data Structure: </a:t>
            </a:r>
            <a:r>
              <a:rPr lang="en-US" dirty="0">
                <a:hlinkClick r:id="rId6"/>
              </a:rPr>
              <a:t>https://en.wikipedia.org/wiki/Disjoint-set_data_structure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611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744</Words>
  <Application>Microsoft Office PowerPoint</Application>
  <PresentationFormat>Widescreen</PresentationFormat>
  <Paragraphs>117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Courier New</vt:lpstr>
      <vt:lpstr>Office Theme</vt:lpstr>
      <vt:lpstr>PowerPoint Presentation</vt:lpstr>
      <vt:lpstr>What is an MST? (Minimum Spanning Tree)</vt:lpstr>
      <vt:lpstr>Who might care about MSTs?</vt:lpstr>
      <vt:lpstr>Methods for finding an MST</vt:lpstr>
      <vt:lpstr>Implementation of Kruskal’s Algorithm</vt:lpstr>
      <vt:lpstr>Demonstration</vt:lpstr>
      <vt:lpstr>Union-Find ADT</vt:lpstr>
      <vt:lpstr>GitHub repository &amp; 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Shaun Jaeschke</dc:creator>
  <cp:lastModifiedBy>Shaun Jaeschke</cp:lastModifiedBy>
  <cp:revision>3</cp:revision>
  <dcterms:created xsi:type="dcterms:W3CDTF">2026-08-10T18:19:13Z</dcterms:created>
  <dcterms:modified xsi:type="dcterms:W3CDTF">2026-08-10T20:55:23Z</dcterms:modified>
</cp:coreProperties>
</file>